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7"/>
  </p:notesMasterIdLst>
  <p:sldIdLst>
    <p:sldId id="256" r:id="rId2"/>
    <p:sldId id="268" r:id="rId3"/>
    <p:sldId id="269" r:id="rId4"/>
    <p:sldId id="270" r:id="rId5"/>
    <p:sldId id="271" r:id="rId6"/>
  </p:sldIdLst>
  <p:sldSz cx="12192000" cy="6858000"/>
  <p:notesSz cx="6858000" cy="9144000"/>
  <p:embeddedFontLst>
    <p:embeddedFont>
      <p:font typeface="Calibri" panose="020F0502020204030204" pitchFamily="34" charset="0"/>
      <p:regular r:id="rId8"/>
      <p:bold r:id="rId9"/>
      <p:italic r:id="rId10"/>
      <p:boldItalic r:id="rId11"/>
    </p:embeddedFont>
    <p:embeddedFont>
      <p:font typeface="Calibri Light" panose="020F0302020204030204" pitchFamily="34" charset="0"/>
      <p:regular r:id="rId12"/>
      <p:italic r:id="rId13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F9985"/>
    <a:srgbClr val="C10B0B"/>
    <a:srgbClr val="B10C3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Средний стиль 2 — акцент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8A107856-5554-42FB-B03E-39F5DBC370BA}" styleName="Средний стиль 4 — акцент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88242" autoAdjust="0"/>
  </p:normalViewPr>
  <p:slideViewPr>
    <p:cSldViewPr snapToGrid="0">
      <p:cViewPr varScale="1">
        <p:scale>
          <a:sx n="78" d="100"/>
          <a:sy n="78" d="100"/>
        </p:scale>
        <p:origin x="835" y="7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font" Target="fonts/font6.fntdata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font" Target="fonts/font5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51D1B43-9722-4B59-B8E5-0D06E85DE394}" type="datetimeFigureOut">
              <a:rPr lang="ru-RU" smtClean="0"/>
              <a:t>12.05.2026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D41DBD-6CA5-42D1-AF42-62D80C8F326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524612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D41DBD-6CA5-42D1-AF42-62D80C8F3268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27346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Спасибо за внимание! Готов ответить на Ваши вопросы!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D41DBD-6CA5-42D1-AF42-62D80C8F3268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372897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Спасибо за внимание! Готов ответить на Ваши вопросы!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D41DBD-6CA5-42D1-AF42-62D80C8F3268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279621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Спасибо за внимание! Готов ответить на Ваши вопросы!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D41DBD-6CA5-42D1-AF42-62D80C8F3268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6275770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Спасибо за внимание! Готов ответить на Ваши вопросы!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D41DBD-6CA5-42D1-AF42-62D80C8F3268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12357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 userDrawn="1"/>
        </p:nvSpPr>
        <p:spPr>
          <a:xfrm>
            <a:off x="111929" y="2446893"/>
            <a:ext cx="66163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направление подготовки:</a:t>
            </a:r>
            <a:r>
              <a:rPr lang="ru-RU" baseline="0" dirty="0"/>
              <a:t> 09.03.03 «Прикладная информатика»</a:t>
            </a:r>
          </a:p>
          <a:p>
            <a:r>
              <a:rPr lang="ru-RU" baseline="0" dirty="0"/>
              <a:t>профиль: </a:t>
            </a:r>
            <a:r>
              <a:rPr lang="ru-RU" baseline="0" dirty="0" smtClean="0"/>
              <a:t>«Искусственный интеллект и анализ данных»</a:t>
            </a:r>
            <a:endParaRPr lang="ru-RU" dirty="0"/>
          </a:p>
        </p:txBody>
      </p:sp>
      <p:sp>
        <p:nvSpPr>
          <p:cNvPr id="9" name="TextBox 8"/>
          <p:cNvSpPr txBox="1"/>
          <p:nvPr userDrawn="1"/>
        </p:nvSpPr>
        <p:spPr>
          <a:xfrm>
            <a:off x="1789340" y="2935868"/>
            <a:ext cx="86133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600" b="1" dirty="0"/>
              <a:t>Выпускная квалификационная работа</a:t>
            </a:r>
          </a:p>
        </p:txBody>
      </p:sp>
      <p:sp>
        <p:nvSpPr>
          <p:cNvPr id="11" name="TextBox 10"/>
          <p:cNvSpPr txBox="1"/>
          <p:nvPr userDrawn="1"/>
        </p:nvSpPr>
        <p:spPr>
          <a:xfrm>
            <a:off x="221731" y="5088581"/>
            <a:ext cx="103918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/>
              <a:t>Руководитель работы: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221731" y="5633541"/>
            <a:ext cx="103918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/>
              <a:t>Обучающийся: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2032907" y="1585872"/>
            <a:ext cx="7086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b="1" dirty="0">
                <a:solidFill>
                  <a:srgbClr val="B10C34"/>
                </a:solidFill>
              </a:rPr>
              <a:t>факультет информационных технологий</a:t>
            </a:r>
          </a:p>
        </p:txBody>
      </p:sp>
      <p:sp>
        <p:nvSpPr>
          <p:cNvPr id="14" name="TextBox 13"/>
          <p:cNvSpPr txBox="1"/>
          <p:nvPr userDrawn="1"/>
        </p:nvSpPr>
        <p:spPr>
          <a:xfrm>
            <a:off x="2906963" y="2018620"/>
            <a:ext cx="50213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2400" b="1" dirty="0">
                <a:solidFill>
                  <a:srgbClr val="B10C34"/>
                </a:solidFill>
              </a:rPr>
              <a:t>кафедра информационных</a:t>
            </a:r>
            <a:r>
              <a:rPr lang="ru-RU" sz="2400" b="1" baseline="0" dirty="0">
                <a:solidFill>
                  <a:srgbClr val="B10C34"/>
                </a:solidFill>
              </a:rPr>
              <a:t> систем</a:t>
            </a:r>
            <a:endParaRPr lang="ru-RU" sz="2400" b="1" dirty="0">
              <a:solidFill>
                <a:srgbClr val="B10C34"/>
              </a:solidFill>
            </a:endParaRPr>
          </a:p>
        </p:txBody>
      </p:sp>
      <p:sp>
        <p:nvSpPr>
          <p:cNvPr id="15" name="Прямоугольник 14"/>
          <p:cNvSpPr/>
          <p:nvPr userDrawn="1"/>
        </p:nvSpPr>
        <p:spPr>
          <a:xfrm>
            <a:off x="0" y="6384471"/>
            <a:ext cx="12192000" cy="473529"/>
          </a:xfrm>
          <a:prstGeom prst="rect">
            <a:avLst/>
          </a:prstGeom>
          <a:solidFill>
            <a:srgbClr val="C10B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0" name="Рисунок 9"/>
          <p:cNvPicPr/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7171" y="123301"/>
            <a:ext cx="3514362" cy="1481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909821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9E7C0-B0E1-4307-8FA1-D09529EF9B05}" type="datetimeFigureOut">
              <a:rPr lang="ru-RU" smtClean="0"/>
              <a:t>12.05.2026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B0AEA3-2F28-4AE7-8C6B-26762F985A6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701372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9E7C0-B0E1-4307-8FA1-D09529EF9B05}" type="datetimeFigureOut">
              <a:rPr lang="ru-RU" smtClean="0"/>
              <a:t>12.05.2026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B0AEA3-2F28-4AE7-8C6B-26762F985A6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09624142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9E7C0-B0E1-4307-8FA1-D09529EF9B05}" type="datetimeFigureOut">
              <a:rPr lang="ru-RU" smtClean="0"/>
              <a:t>12.05.2026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B0AEA3-2F28-4AE7-8C6B-26762F985A6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112885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9E7C0-B0E1-4307-8FA1-D09529EF9B05}" type="datetimeFigureOut">
              <a:rPr lang="ru-RU" smtClean="0"/>
              <a:t>12.05.2026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B0AEA3-2F28-4AE7-8C6B-26762F985A6E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223494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Цель, задач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 userDrawn="1"/>
        </p:nvSpPr>
        <p:spPr>
          <a:xfrm>
            <a:off x="0" y="6384471"/>
            <a:ext cx="12192000" cy="473529"/>
          </a:xfrm>
          <a:prstGeom prst="rect">
            <a:avLst/>
          </a:prstGeom>
          <a:noFill/>
          <a:ln>
            <a:solidFill>
              <a:srgbClr val="B10C3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6" name="Рисунок 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11490" y="6400799"/>
            <a:ext cx="1856015" cy="430644"/>
          </a:xfrm>
          <a:prstGeom prst="rect">
            <a:avLst/>
          </a:prstGeom>
        </p:spPr>
      </p:pic>
      <p:sp>
        <p:nvSpPr>
          <p:cNvPr id="7" name="TextBox 6"/>
          <p:cNvSpPr txBox="1"/>
          <p:nvPr userDrawn="1"/>
        </p:nvSpPr>
        <p:spPr>
          <a:xfrm>
            <a:off x="106136" y="6431455"/>
            <a:ext cx="23351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solidFill>
                  <a:srgbClr val="B10C34"/>
                </a:solidFill>
                <a:effectLst/>
              </a:rPr>
              <a:t>слайд </a:t>
            </a:r>
            <a:r>
              <a:rPr lang="ru-RU" b="1" dirty="0" smtClean="0">
                <a:solidFill>
                  <a:srgbClr val="B10C34"/>
                </a:solidFill>
                <a:effectLst/>
              </a:rPr>
              <a:t>№ 3</a:t>
            </a:r>
            <a:endParaRPr lang="ru-RU" b="1" dirty="0">
              <a:solidFill>
                <a:srgbClr val="B10C34"/>
              </a:solidFill>
              <a:effectLst/>
            </a:endParaRPr>
          </a:p>
        </p:txBody>
      </p:sp>
      <p:sp>
        <p:nvSpPr>
          <p:cNvPr id="8" name="TextBox 7"/>
          <p:cNvSpPr txBox="1"/>
          <p:nvPr userDrawn="1"/>
        </p:nvSpPr>
        <p:spPr>
          <a:xfrm>
            <a:off x="89809" y="48987"/>
            <a:ext cx="1065224" cy="523220"/>
          </a:xfrm>
          <a:prstGeom prst="rect">
            <a:avLst/>
          </a:prstGeom>
          <a:noFill/>
          <a:ln w="6350">
            <a:noFill/>
          </a:ln>
          <a:effectLst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ru-RU" sz="2800" b="1" dirty="0">
                <a:solidFill>
                  <a:srgbClr val="B10C34"/>
                </a:solidFill>
                <a:effectLst/>
              </a:rPr>
              <a:t>Цель: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89808" y="1106060"/>
            <a:ext cx="1469486" cy="523220"/>
          </a:xfrm>
          <a:prstGeom prst="rect">
            <a:avLst/>
          </a:prstGeom>
          <a:noFill/>
          <a:ln w="6350">
            <a:noFill/>
          </a:ln>
          <a:effectLst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ru-RU" sz="2800" b="1" dirty="0">
                <a:solidFill>
                  <a:srgbClr val="B10C34"/>
                </a:solidFill>
              </a:rPr>
              <a:t>Задачи:</a:t>
            </a:r>
          </a:p>
        </p:txBody>
      </p:sp>
      <p:sp>
        <p:nvSpPr>
          <p:cNvPr id="11" name="TextBox 10"/>
          <p:cNvSpPr txBox="1"/>
          <p:nvPr userDrawn="1"/>
        </p:nvSpPr>
        <p:spPr>
          <a:xfrm>
            <a:off x="89807" y="4214790"/>
            <a:ext cx="2711146" cy="400110"/>
          </a:xfrm>
          <a:prstGeom prst="rect">
            <a:avLst/>
          </a:prstGeom>
          <a:noFill/>
          <a:ln w="6350">
            <a:noFill/>
          </a:ln>
          <a:effectLst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ru-RU" sz="2000" b="1" dirty="0">
                <a:solidFill>
                  <a:srgbClr val="B10C34"/>
                </a:solidFill>
              </a:rPr>
              <a:t>Объект исследования: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89806" y="5257094"/>
            <a:ext cx="2855526" cy="400110"/>
          </a:xfrm>
          <a:prstGeom prst="rect">
            <a:avLst/>
          </a:prstGeom>
          <a:ln w="6350">
            <a:noFill/>
          </a:ln>
          <a:effectLst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ru-RU" sz="2000" b="1" dirty="0">
                <a:solidFill>
                  <a:srgbClr val="B10C34"/>
                </a:solidFill>
              </a:rPr>
              <a:t>Предмет исследования:</a:t>
            </a:r>
          </a:p>
        </p:txBody>
      </p:sp>
    </p:spTree>
    <p:extLst>
      <p:ext uri="{BB962C8B-B14F-4D97-AF65-F5344CB8AC3E}">
        <p14:creationId xmlns:p14="http://schemas.microsoft.com/office/powerpoint/2010/main" val="1181967673"/>
      </p:ext>
    </p:extLst>
  </p:cSld>
  <p:clrMapOvr>
    <a:masterClrMapping/>
  </p:clrMapOvr>
  <p:timing>
    <p:tnLst>
      <p:par>
        <p:cTn id="1" dur="indefinite" restart="never" nodeType="tmRoot"/>
      </p:par>
    </p:tnLst>
  </p:timing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 userDrawn="1"/>
        </p:nvSpPr>
        <p:spPr>
          <a:xfrm>
            <a:off x="0" y="6384471"/>
            <a:ext cx="12192000" cy="473529"/>
          </a:xfrm>
          <a:prstGeom prst="rect">
            <a:avLst/>
          </a:prstGeom>
          <a:noFill/>
          <a:ln>
            <a:solidFill>
              <a:srgbClr val="B10C3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6" name="Рисунок 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11490" y="6400799"/>
            <a:ext cx="1856015" cy="430644"/>
          </a:xfrm>
          <a:prstGeom prst="rect">
            <a:avLst/>
          </a:prstGeom>
        </p:spPr>
      </p:pic>
      <p:sp>
        <p:nvSpPr>
          <p:cNvPr id="7" name="TextBox 6"/>
          <p:cNvSpPr txBox="1"/>
          <p:nvPr userDrawn="1"/>
        </p:nvSpPr>
        <p:spPr>
          <a:xfrm>
            <a:off x="106136" y="6431455"/>
            <a:ext cx="11266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solidFill>
                  <a:srgbClr val="B10C34"/>
                </a:solidFill>
                <a:effectLst/>
              </a:rPr>
              <a:t>слайд №</a:t>
            </a:r>
          </a:p>
        </p:txBody>
      </p:sp>
    </p:spTree>
    <p:extLst>
      <p:ext uri="{BB962C8B-B14F-4D97-AF65-F5344CB8AC3E}">
        <p14:creationId xmlns:p14="http://schemas.microsoft.com/office/powerpoint/2010/main" val="914210715"/>
      </p:ext>
    </p:extLst>
  </p:cSld>
  <p:clrMapOvr>
    <a:masterClrMapping/>
  </p:clrMapOvr>
  <p:timing>
    <p:tnLst>
      <p:par>
        <p:cTn id="1" dur="indefinite" restart="never" nodeType="tmRoot"/>
      </p:par>
    </p:tnLst>
  </p:timing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ключ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/>
          <p:cNvSpPr/>
          <p:nvPr userDrawn="1"/>
        </p:nvSpPr>
        <p:spPr>
          <a:xfrm>
            <a:off x="0" y="6384471"/>
            <a:ext cx="12192000" cy="473529"/>
          </a:xfrm>
          <a:prstGeom prst="rect">
            <a:avLst/>
          </a:prstGeom>
          <a:noFill/>
          <a:ln>
            <a:solidFill>
              <a:srgbClr val="B10C3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7" name="Рисунок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11490" y="6400799"/>
            <a:ext cx="1856015" cy="430644"/>
          </a:xfrm>
          <a:prstGeom prst="rect">
            <a:avLst/>
          </a:prstGeom>
        </p:spPr>
      </p:pic>
      <p:sp>
        <p:nvSpPr>
          <p:cNvPr id="8" name="TextBox 7"/>
          <p:cNvSpPr txBox="1"/>
          <p:nvPr userDrawn="1"/>
        </p:nvSpPr>
        <p:spPr>
          <a:xfrm>
            <a:off x="106136" y="6431455"/>
            <a:ext cx="11266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solidFill>
                  <a:srgbClr val="B10C34"/>
                </a:solidFill>
                <a:effectLst/>
              </a:rPr>
              <a:t>слайд №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89808" y="48987"/>
            <a:ext cx="2634141" cy="646331"/>
          </a:xfrm>
          <a:prstGeom prst="rect">
            <a:avLst/>
          </a:prstGeom>
          <a:noFill/>
          <a:ln w="6350">
            <a:noFill/>
          </a:ln>
          <a:effectLst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ru-RU" sz="3600" dirty="0">
                <a:solidFill>
                  <a:srgbClr val="B10C34"/>
                </a:solidFill>
              </a:rPr>
              <a:t>Заключение</a:t>
            </a:r>
          </a:p>
        </p:txBody>
      </p:sp>
    </p:spTree>
    <p:extLst>
      <p:ext uri="{BB962C8B-B14F-4D97-AF65-F5344CB8AC3E}">
        <p14:creationId xmlns:p14="http://schemas.microsoft.com/office/powerpoint/2010/main" val="72574177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9E7C0-B0E1-4307-8FA1-D09529EF9B05}" type="datetimeFigureOut">
              <a:rPr lang="ru-RU" smtClean="0"/>
              <a:t>12.05.2026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B0AEA3-2F28-4AE7-8C6B-26762F985A6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0871827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9E7C0-B0E1-4307-8FA1-D09529EF9B05}" type="datetimeFigureOut">
              <a:rPr lang="ru-RU" smtClean="0"/>
              <a:t>12.05.2026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B0AEA3-2F28-4AE7-8C6B-26762F985A6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0482313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9E7C0-B0E1-4307-8FA1-D09529EF9B05}" type="datetimeFigureOut">
              <a:rPr lang="ru-RU" smtClean="0"/>
              <a:t>12.05.2026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B0AEA3-2F28-4AE7-8C6B-26762F985A6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9915378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9E7C0-B0E1-4307-8FA1-D09529EF9B05}" type="datetimeFigureOut">
              <a:rPr lang="ru-RU" smtClean="0"/>
              <a:t>12.05.2026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B0AEA3-2F28-4AE7-8C6B-26762F985A6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1560940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9E7C0-B0E1-4307-8FA1-D09529EF9B05}" type="datetimeFigureOut">
              <a:rPr lang="ru-RU" smtClean="0"/>
              <a:t>12.05.2026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B0AEA3-2F28-4AE7-8C6B-26762F985A6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438534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E9E7C0-B0E1-4307-8FA1-D09529EF9B05}" type="datetimeFigureOut">
              <a:rPr lang="ru-RU" smtClean="0"/>
              <a:t>12.05.2026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B0AEA3-2F28-4AE7-8C6B-26762F985A6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995482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60" r:id="rId6"/>
    <p:sldLayoutId id="2147483655" r:id="rId7"/>
    <p:sldLayoutId id="2147483654" r:id="rId8"/>
    <p:sldLayoutId id="2147483661" r:id="rId9"/>
    <p:sldLayoutId id="2147483656" r:id="rId10"/>
    <p:sldLayoutId id="2147483657" r:id="rId11"/>
    <p:sldLayoutId id="2147483658" r:id="rId12"/>
    <p:sldLayoutId id="2147483659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21732" y="3526043"/>
            <a:ext cx="11748536" cy="830997"/>
          </a:xfrm>
          <a:prstGeom prst="rect">
            <a:avLst/>
          </a:prstGeom>
          <a:ln>
            <a:solidFill>
              <a:schemeClr val="bg1">
                <a:lumMod val="9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ru-RU" sz="2400" b="0" dirty="0"/>
              <a:t>тема: </a:t>
            </a:r>
            <a:r>
              <a:rPr lang="ru-RU" sz="2400" b="1" dirty="0"/>
              <a:t>«Веб-интерфейс для семантической разметки и визуализации </a:t>
            </a:r>
          </a:p>
          <a:p>
            <a:r>
              <a:rPr lang="ru-RU" sz="2400" b="1" dirty="0"/>
              <a:t>математических текстов»)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2942705" y="5095703"/>
            <a:ext cx="35522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err="1" smtClean="0"/>
              <a:t>Атаева</a:t>
            </a:r>
            <a:r>
              <a:rPr lang="ru-RU" dirty="0" smtClean="0"/>
              <a:t> Ольга Муратовна</a:t>
            </a:r>
            <a:endParaRPr lang="ru-RU" dirty="0"/>
          </a:p>
        </p:txBody>
      </p:sp>
      <p:sp>
        <p:nvSpPr>
          <p:cNvPr id="5" name="TextBox 4"/>
          <p:cNvSpPr txBox="1"/>
          <p:nvPr/>
        </p:nvSpPr>
        <p:spPr>
          <a:xfrm>
            <a:off x="2080648" y="5649416"/>
            <a:ext cx="27320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err="1" smtClean="0"/>
              <a:t>Абдышов</a:t>
            </a:r>
            <a:r>
              <a:rPr lang="ru-RU" dirty="0" smtClean="0"/>
              <a:t> </a:t>
            </a:r>
            <a:r>
              <a:rPr lang="ru-RU" dirty="0" err="1" smtClean="0"/>
              <a:t>Айдин</a:t>
            </a:r>
            <a:endParaRPr lang="ru-RU" dirty="0"/>
          </a:p>
        </p:txBody>
      </p:sp>
      <p:sp>
        <p:nvSpPr>
          <p:cNvPr id="6" name="TextBox 5"/>
          <p:cNvSpPr txBox="1"/>
          <p:nvPr/>
        </p:nvSpPr>
        <p:spPr>
          <a:xfrm>
            <a:off x="111929" y="6436569"/>
            <a:ext cx="39964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0" dirty="0">
                <a:solidFill>
                  <a:schemeClr val="bg1"/>
                </a:solidFill>
              </a:rPr>
              <a:t>группа: ИД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ru-RU" dirty="0" smtClean="0">
                <a:solidFill>
                  <a:schemeClr val="bg1"/>
                </a:solidFill>
              </a:rPr>
              <a:t>23.1/Б3-23</a:t>
            </a:r>
            <a:endParaRPr lang="ru-RU" b="0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722256" y="6436569"/>
            <a:ext cx="34174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0" dirty="0">
                <a:solidFill>
                  <a:schemeClr val="bg1"/>
                </a:solidFill>
              </a:rPr>
              <a:t>форма обучения: </a:t>
            </a:r>
            <a:r>
              <a:rPr lang="ru-RU" dirty="0">
                <a:solidFill>
                  <a:schemeClr val="bg1"/>
                </a:solidFill>
              </a:rPr>
              <a:t>очная</a:t>
            </a:r>
            <a:endParaRPr lang="ru-RU" b="0" dirty="0">
              <a:solidFill>
                <a:schemeClr val="bg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164749" y="6431997"/>
            <a:ext cx="38055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0" dirty="0">
                <a:solidFill>
                  <a:schemeClr val="bg1"/>
                </a:solidFill>
              </a:rPr>
              <a:t>технология обучения: </a:t>
            </a:r>
            <a:r>
              <a:rPr lang="ru-RU" dirty="0" smtClean="0">
                <a:solidFill>
                  <a:schemeClr val="bg1"/>
                </a:solidFill>
              </a:rPr>
              <a:t>классическая</a:t>
            </a:r>
          </a:p>
        </p:txBody>
      </p:sp>
    </p:spTree>
    <p:extLst>
      <p:ext uri="{BB962C8B-B14F-4D97-AF65-F5344CB8AC3E}">
        <p14:creationId xmlns:p14="http://schemas.microsoft.com/office/powerpoint/2010/main" val="34661336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1E735162-0498-47F4-8341-66855AC477E6}"/>
              </a:ext>
            </a:extLst>
          </p:cNvPr>
          <p:cNvSpPr txBox="1"/>
          <p:nvPr/>
        </p:nvSpPr>
        <p:spPr>
          <a:xfrm>
            <a:off x="1111828" y="6441823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b="1" dirty="0">
                <a:solidFill>
                  <a:srgbClr val="B10C34"/>
                </a:solidFill>
              </a:rPr>
              <a:t>4</a:t>
            </a:r>
            <a:endParaRPr lang="ru-RU" b="1" dirty="0">
              <a:solidFill>
                <a:srgbClr val="B10C34"/>
              </a:solidFill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1111828" y="294409"/>
            <a:ext cx="454172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4000" dirty="0">
                <a:solidFill>
                  <a:srgbClr val="C00000"/>
                </a:solidFill>
              </a:rPr>
              <a:t>Цели работы</a:t>
            </a:r>
            <a:endParaRPr lang="ru-RU" sz="4000" dirty="0"/>
          </a:p>
        </p:txBody>
      </p:sp>
      <p:sp>
        <p:nvSpPr>
          <p:cNvPr id="9" name="Прямоугольник 8"/>
          <p:cNvSpPr/>
          <p:nvPr/>
        </p:nvSpPr>
        <p:spPr>
          <a:xfrm>
            <a:off x="648930" y="1907458"/>
            <a:ext cx="9153832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smtClean="0"/>
              <a:t>• 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Сделать математические PDF-документы понятными для всех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• Объединить машинную точность и человеческую наглядность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• Внедрить интерактивные подсказки и подсветку терминов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• Построить граф связей между разными документами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• Сохранить полную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машино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-интерпретируемость для сервисов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• Создать удобный веб-сервис без установки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6725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1E735162-0498-47F4-8341-66855AC477E6}"/>
              </a:ext>
            </a:extLst>
          </p:cNvPr>
          <p:cNvSpPr txBox="1"/>
          <p:nvPr/>
        </p:nvSpPr>
        <p:spPr>
          <a:xfrm>
            <a:off x="1111828" y="6441823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b="1" dirty="0">
                <a:solidFill>
                  <a:srgbClr val="B10C34"/>
                </a:solidFill>
              </a:rPr>
              <a:t>4</a:t>
            </a:r>
            <a:endParaRPr lang="ru-RU" b="1" dirty="0">
              <a:solidFill>
                <a:srgbClr val="B10C34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0CFEF040-6B66-44B7-BD5F-97775598041D}"/>
              </a:ext>
            </a:extLst>
          </p:cNvPr>
          <p:cNvSpPr txBox="1"/>
          <p:nvPr/>
        </p:nvSpPr>
        <p:spPr>
          <a:xfrm>
            <a:off x="556116" y="254479"/>
            <a:ext cx="46691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3600" dirty="0">
                <a:solidFill>
                  <a:srgbClr val="C00000"/>
                </a:solidFill>
              </a:rPr>
              <a:t>Постановка задачи</a:t>
            </a:r>
            <a:endParaRPr lang="ru-RU" sz="3600" dirty="0">
              <a:solidFill>
                <a:srgbClr val="C00000"/>
              </a:solidFill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556116" y="1140542"/>
            <a:ext cx="8587884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Разработать алгоритм автоматической аннотации 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PDF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Настроить базу данных для хранения терминов и 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связей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Реализовать поиск пересечений между 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документами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Сделать веб-интерфейс с подсветкой и 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подсказками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Интегрировать локальную языковую модель для 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ответов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Обеспечить 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обработку страницы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981060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1E735162-0498-47F4-8341-66855AC477E6}"/>
              </a:ext>
            </a:extLst>
          </p:cNvPr>
          <p:cNvSpPr txBox="1"/>
          <p:nvPr/>
        </p:nvSpPr>
        <p:spPr>
          <a:xfrm>
            <a:off x="1111828" y="6441823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b="1" dirty="0">
                <a:solidFill>
                  <a:srgbClr val="B10C34"/>
                </a:solidFill>
              </a:rPr>
              <a:t>4</a:t>
            </a:r>
            <a:endParaRPr lang="ru-RU" b="1" dirty="0">
              <a:solidFill>
                <a:srgbClr val="B10C34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0CFEF040-6B66-44B7-BD5F-97775598041D}"/>
              </a:ext>
            </a:extLst>
          </p:cNvPr>
          <p:cNvSpPr txBox="1"/>
          <p:nvPr/>
        </p:nvSpPr>
        <p:spPr>
          <a:xfrm>
            <a:off x="546283" y="334437"/>
            <a:ext cx="46691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3600" dirty="0" smtClean="0">
                <a:solidFill>
                  <a:srgbClr val="C00000"/>
                </a:solidFill>
              </a:rPr>
              <a:t>Актуальность</a:t>
            </a:r>
            <a:endParaRPr lang="ru-RU" sz="3600" dirty="0">
              <a:solidFill>
                <a:srgbClr val="C00000"/>
              </a:solidFill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894735" y="1582994"/>
            <a:ext cx="8249265" cy="48013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Большинство студентов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теряются в технических 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PDF-документах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Математические тексты становятся 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не понятными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Существующие инструменты неудобны для живых 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людей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В России растёт число онлайн-курсов по 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математике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Нужен мост между сложной статьёй и 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студентом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PDF не сохраняет смысл формул и определений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963157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1E735162-0498-47F4-8341-66855AC477E6}"/>
              </a:ext>
            </a:extLst>
          </p:cNvPr>
          <p:cNvSpPr txBox="1"/>
          <p:nvPr/>
        </p:nvSpPr>
        <p:spPr>
          <a:xfrm>
            <a:off x="1111828" y="6441823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b="1" dirty="0">
                <a:solidFill>
                  <a:srgbClr val="B10C34"/>
                </a:solidFill>
              </a:rPr>
              <a:t>4</a:t>
            </a:r>
            <a:endParaRPr lang="ru-RU" b="1" dirty="0">
              <a:solidFill>
                <a:srgbClr val="B10C34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0CFEF040-6B66-44B7-BD5F-97775598041D}"/>
              </a:ext>
            </a:extLst>
          </p:cNvPr>
          <p:cNvSpPr txBox="1"/>
          <p:nvPr/>
        </p:nvSpPr>
        <p:spPr>
          <a:xfrm>
            <a:off x="3761432" y="2782669"/>
            <a:ext cx="46691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3600" dirty="0">
                <a:solidFill>
                  <a:srgbClr val="C00000"/>
                </a:solidFill>
              </a:rPr>
              <a:t>Спасибо за внимание!</a:t>
            </a:r>
          </a:p>
        </p:txBody>
      </p:sp>
    </p:spTree>
    <p:extLst>
      <p:ext uri="{BB962C8B-B14F-4D97-AF65-F5344CB8AC3E}">
        <p14:creationId xmlns:p14="http://schemas.microsoft.com/office/powerpoint/2010/main" val="4279684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1387</TotalTime>
  <Words>177</Words>
  <Application>Microsoft Office PowerPoint</Application>
  <PresentationFormat>Широкоэкранный</PresentationFormat>
  <Paragraphs>52</Paragraphs>
  <Slides>5</Slides>
  <Notes>5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</vt:i4>
      </vt:variant>
    </vt:vector>
  </HeadingPairs>
  <TitlesOfParts>
    <vt:vector size="10" baseType="lpstr">
      <vt:lpstr>Calibri</vt:lpstr>
      <vt:lpstr>Times New Roman</vt:lpstr>
      <vt:lpstr>Arial</vt:lpstr>
      <vt:lpstr>Calibri Light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Зайцев Сергей Александрович</dc:creator>
  <cp:lastModifiedBy>User</cp:lastModifiedBy>
  <cp:revision>212</cp:revision>
  <dcterms:created xsi:type="dcterms:W3CDTF">2019-06-05T12:58:05Z</dcterms:created>
  <dcterms:modified xsi:type="dcterms:W3CDTF">2026-05-12T02:20:23Z</dcterms:modified>
</cp:coreProperties>
</file>